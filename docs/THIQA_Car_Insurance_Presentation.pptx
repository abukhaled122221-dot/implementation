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267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8869680" y="914400"/>
            <a:ext cx="4754880" cy="4754880"/>
          </a:xfrm>
          <a:prstGeom prst="ellipse">
            <a:avLst/>
          </a:prstGeom>
          <a:solidFill>
            <a:srgbClr val="16263D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4" name="Shape 2"/>
          <p:cNvSpPr/>
          <p:nvPr/>
        </p:nvSpPr>
        <p:spPr>
          <a:xfrm>
            <a:off x="10378440" y="2697480"/>
            <a:ext cx="1737360" cy="173736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527" y="3166567"/>
            <a:ext cx="799186" cy="7991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جامعة القصيم  •  كلية الحاسب  •  قسم تقنية المعلومات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E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Qassim University  •  College of Computer  •  IT Department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" y="233172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THIQA</a:t>
            </a:r>
            <a:r>
              <a:rPr lang="en-US" sz="5400" b="1" dirty="0">
                <a:solidFill>
                  <a:srgbClr val="15A0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CAR INSURANCE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640080" y="36118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3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Multi-Agent Car-Insurance Recommendation Platform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85800" y="4434840"/>
            <a:ext cx="2743200" cy="0"/>
          </a:xfrm>
          <a:prstGeom prst="line">
            <a:avLst/>
          </a:prstGeom>
          <a:noFill/>
          <a:ln w="25400">
            <a:solidFill>
              <a:srgbClr val="15A05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1" name="Text 8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 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Abdullah Alaraj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B.Sc. Graduation Project  —  Qassim, Saudi Arabia  —  1447 (2026)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Choosing car insurance has become harder, not easier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989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today’s digital market, drivers face many policies, coverage limits, exclusions and deductibles. Most platforms only display static quotes — leaving the customer to compare and decide alone, often without truly understanding the differences.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868680" y="3589020"/>
            <a:ext cx="457200" cy="45720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37124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34930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Motor-insurance focus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08760" y="3803904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entirely to car insurance — TPL, comprehensive and usage-based options.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4407408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" name="Shape 8"/>
          <p:cNvSpPr/>
          <p:nvPr/>
        </p:nvSpPr>
        <p:spPr>
          <a:xfrm>
            <a:off x="868680" y="4613148"/>
            <a:ext cx="457200" cy="45720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736592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451713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&amp; personalized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508760" y="482803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driver and vehicle data to tailor every recommendation.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5431536"/>
            <a:ext cx="5989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6" name="Shape 12"/>
          <p:cNvSpPr/>
          <p:nvPr/>
        </p:nvSpPr>
        <p:spPr>
          <a:xfrm>
            <a:off x="868680" y="5637276"/>
            <a:ext cx="457200" cy="45720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576072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5412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by design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08760" y="5852160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Explains, in plain language, why a policy was chosen.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995160" y="1691640"/>
            <a:ext cx="4572000" cy="4544568"/>
          </a:xfrm>
          <a:prstGeom prst="roundRect">
            <a:avLst>
              <a:gd name="adj" fmla="val 2012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21" name="Shape 16"/>
          <p:cNvSpPr/>
          <p:nvPr/>
        </p:nvSpPr>
        <p:spPr>
          <a:xfrm>
            <a:off x="7360920" y="2057400"/>
            <a:ext cx="868680" cy="86868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5464" y="2291944"/>
            <a:ext cx="399593" cy="3995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66760" y="2103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THIQA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83667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“trust” in Arabic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6092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platform that compares live insurance offers and returns the single most suitable package — clearly, neutrally, and instantly.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7360920" y="5074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30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cooperating AI agents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DIRECTION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Vision &amp; 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18872" cy="4434840"/>
          </a:xfrm>
          <a:prstGeom prst="rect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1051560" y="2148840"/>
            <a:ext cx="777240" cy="77724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415" y="2358695"/>
            <a:ext cx="357530" cy="3575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31546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i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make car-insurance decisions in Saudi Arabia simple, transparent and trustworthy for every driver.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51560" y="47548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Vision 2030 goals for digital financial services and a cashless, innovation-driven economy.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7220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2" name="Shape 9"/>
          <p:cNvSpPr/>
          <p:nvPr/>
        </p:nvSpPr>
        <p:spPr>
          <a:xfrm>
            <a:off x="6172200" y="1783080"/>
            <a:ext cx="118872" cy="4434840"/>
          </a:xfrm>
          <a:prstGeom prst="rect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13" name="Shape 10"/>
          <p:cNvSpPr/>
          <p:nvPr/>
        </p:nvSpPr>
        <p:spPr>
          <a:xfrm>
            <a:off x="6583680" y="2148840"/>
            <a:ext cx="777240" cy="777240"/>
          </a:xfrm>
          <a:prstGeom prst="ellipse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535" y="2358695"/>
            <a:ext cx="357530" cy="3575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89520" y="2240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629400" y="306324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✓"/>
            </a:pPr>
            <a:r>
              <a:rPr lang="en-US" sz="145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live offers directly from licensed insurers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✓"/>
            </a:pPr>
            <a:r>
              <a:rPr lang="en-US" sz="145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every package against the customer’s real profile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✓"/>
            </a:pPr>
            <a:r>
              <a:rPr lang="en-US" sz="145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the single most suitable policy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✓"/>
            </a:pPr>
            <a:r>
              <a:rPr lang="en-US" sz="145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choice in clear, non-technical language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drivers struggle to pick the right policy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1005840" y="2212848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599" y="2390607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variables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5156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limits, exclusions, deductibles and prices are hard to weigh side-by-side.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Shape 7"/>
          <p:cNvSpPr/>
          <p:nvPr/>
        </p:nvSpPr>
        <p:spPr>
          <a:xfrm>
            <a:off x="6629400" y="2212848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159" y="2390607"/>
            <a:ext cx="302849" cy="3028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40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policy literacy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75120" y="28803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often can’t tell TPL from comprehensive or judge which add-ons matter.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5" name="Shape 11"/>
          <p:cNvSpPr/>
          <p:nvPr/>
        </p:nvSpPr>
        <p:spPr>
          <a:xfrm>
            <a:off x="1005840" y="4361688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599" y="4539447"/>
            <a:ext cx="302849" cy="30284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389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Wrong-fit choices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05156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overpay for unneeded cover — or pick the cheapest option and stay under-protected.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63640" y="397764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0" name="Shape 15"/>
          <p:cNvSpPr/>
          <p:nvPr/>
        </p:nvSpPr>
        <p:spPr>
          <a:xfrm>
            <a:off x="6629400" y="4361688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7159" y="4539447"/>
            <a:ext cx="302849" cy="30284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43891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guidance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675120" y="50292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platforms compare on price alone; they rarely explain the best fit.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LITERATURE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landscape we studied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surveyed e-commerce in insurance, motor-insurance fundamentals, and the technologies reshaping the industry.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932688" y="271576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759" y="2868839"/>
            <a:ext cx="260787" cy="260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715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in Insurance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32688" y="333756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quotation, purchase, renewal, digital payments and the risks they introduce.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43400" y="24231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" name="Shape 8"/>
          <p:cNvSpPr/>
          <p:nvPr/>
        </p:nvSpPr>
        <p:spPr>
          <a:xfrm>
            <a:off x="4636008" y="271576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079" y="2868839"/>
            <a:ext cx="260787" cy="26078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715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Car-Insurance Concepts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36008" y="333756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TPL, comprehensive, collision, theft &amp; fire, UBI and optional add-ons.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046720" y="242316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6" name="Shape 12"/>
          <p:cNvSpPr/>
          <p:nvPr/>
        </p:nvSpPr>
        <p:spPr>
          <a:xfrm>
            <a:off x="8339328" y="271576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399" y="2868839"/>
            <a:ext cx="260787" cy="26078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52560" y="27157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InsurTech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39328" y="333756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telematics, IoT, computer vision and APIs transforming the value chain.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40080" y="42976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1" name="Shape 16"/>
          <p:cNvSpPr/>
          <p:nvPr/>
        </p:nvSpPr>
        <p:spPr>
          <a:xfrm>
            <a:off x="932688" y="459028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759" y="4743359"/>
            <a:ext cx="260787" cy="26078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4590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2688" y="521208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Automation, data-driven risk assessment, fraud detection, blockchain &amp; cybersecurity.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343400" y="42976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6" name="Shape 20"/>
          <p:cNvSpPr/>
          <p:nvPr/>
        </p:nvSpPr>
        <p:spPr>
          <a:xfrm>
            <a:off x="4636008" y="459028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9079" y="4743359"/>
            <a:ext cx="260787" cy="26078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349240" y="4590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&amp; UBI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636008" y="521208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Driving-behaviour data enabling personalized, usage-based pricing.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046720" y="4297680"/>
            <a:ext cx="34747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1" name="Shape 24"/>
          <p:cNvSpPr/>
          <p:nvPr/>
        </p:nvSpPr>
        <p:spPr>
          <a:xfrm>
            <a:off x="8339328" y="459028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2399" y="4743359"/>
            <a:ext cx="260787" cy="26078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052560" y="459028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Ecosystem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339328" y="521208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2030, SAMA regulation, the insurance sandbox and local aggregators.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RELATED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&amp; existing solutions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942" y="22759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21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InsurTech Patterns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quotation engines &amp; mobile-first apps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AI-assisted claims workflows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Driver-scoring and telematics-based pricing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Computer-vision vehicle damage assessment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insurance via mobility platforms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Shape 7"/>
          <p:cNvSpPr/>
          <p:nvPr/>
        </p:nvSpPr>
        <p:spPr>
          <a:xfrm>
            <a:off x="6446520" y="2057400"/>
            <a:ext cx="594360" cy="594360"/>
          </a:xfrm>
          <a:prstGeom prst="ellipse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997" y="2217877"/>
            <a:ext cx="273406" cy="273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0756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Ecosystem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37960" y="278892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Aggregators such as Tameeni and BCare let drivers compare and buy motor policies online; insurers like Tawuniya and Takaful Al-Rajhi are digitizing fast.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172200" y="41148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D9F0E4"/>
          </a:solidFill>
          <a:ln w="12700">
            <a:solidFill>
              <a:srgbClr val="B9DECB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5" name="Shape 11"/>
          <p:cNvSpPr/>
          <p:nvPr/>
        </p:nvSpPr>
        <p:spPr>
          <a:xfrm>
            <a:off x="6446520" y="4389120"/>
            <a:ext cx="594360" cy="5943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997" y="4549597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223760" y="44074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37960" y="50749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0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platforms filter by price and company name only. They rarely deliver intelligent, explainable, personalized recommendations that weigh driving behaviour, mileage and prior claims.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multi-agent recommendation approach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 is an API-driven, multi-agent system. Three specialized agents work as a one-directional pipeline — collect, decide, explain — so each stage stays simple and easy to extend.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20440" cy="128016"/>
          </a:xfrm>
          <a:prstGeom prst="rect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1005840" y="2880360"/>
            <a:ext cx="777240" cy="77724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695" y="3090215"/>
            <a:ext cx="357530" cy="3575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971800" y="26974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000" b="1" dirty="0">
                <a:solidFill>
                  <a:srgbClr val="D9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1005840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Receiver &amp; Retrieval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05840" y="45720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customer’s data, queries every insurer API in parallel, and merges live JSON offers into one unified quote set.</a:t>
            </a:r>
            <a:endParaRPr lang="en-US" sz="1230" dirty="0"/>
          </a:p>
        </p:txBody>
      </p:sp>
      <p:sp>
        <p:nvSpPr>
          <p:cNvPr id="12" name="Text 9"/>
          <p:cNvSpPr/>
          <p:nvPr/>
        </p:nvSpPr>
        <p:spPr>
          <a:xfrm>
            <a:off x="4160520" y="3840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A05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407408" y="251460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Shape 11"/>
          <p:cNvSpPr/>
          <p:nvPr/>
        </p:nvSpPr>
        <p:spPr>
          <a:xfrm>
            <a:off x="4407408" y="2514600"/>
            <a:ext cx="3520440" cy="128016"/>
          </a:xfrm>
          <a:prstGeom prst="rect">
            <a:avLst/>
          </a:prstGeom>
          <a:solidFill>
            <a:srgbClr val="0C6B45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15" name="Shape 12"/>
          <p:cNvSpPr/>
          <p:nvPr/>
        </p:nvSpPr>
        <p:spPr>
          <a:xfrm>
            <a:off x="4773168" y="2880360"/>
            <a:ext cx="777240" cy="777240"/>
          </a:xfrm>
          <a:prstGeom prst="ellipse">
            <a:avLst/>
          </a:prstGeom>
          <a:solidFill>
            <a:srgbClr val="0C6B45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023" y="3090215"/>
            <a:ext cx="357530" cy="35753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39128" y="26974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000" b="1" dirty="0">
                <a:solidFill>
                  <a:srgbClr val="D9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000" dirty="0"/>
          </a:p>
        </p:txBody>
      </p:sp>
      <p:sp>
        <p:nvSpPr>
          <p:cNvPr id="18" name="Text 14"/>
          <p:cNvSpPr/>
          <p:nvPr/>
        </p:nvSpPr>
        <p:spPr>
          <a:xfrm>
            <a:off x="4773168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Agent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773168" y="45720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eligible packages, scores each on 8 weighted criteria, ranks them, and selects the highest-scoring policy.</a:t>
            </a:r>
            <a:endParaRPr lang="en-US" sz="1230" dirty="0"/>
          </a:p>
        </p:txBody>
      </p:sp>
      <p:sp>
        <p:nvSpPr>
          <p:cNvPr id="20" name="Text 16"/>
          <p:cNvSpPr/>
          <p:nvPr/>
        </p:nvSpPr>
        <p:spPr>
          <a:xfrm>
            <a:off x="7927848" y="384048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A05A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8174736" y="251460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2" name="Shape 18"/>
          <p:cNvSpPr/>
          <p:nvPr/>
        </p:nvSpPr>
        <p:spPr>
          <a:xfrm>
            <a:off x="8174736" y="2514600"/>
            <a:ext cx="3520440" cy="128016"/>
          </a:xfrm>
          <a:prstGeom prst="rect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23" name="Shape 19"/>
          <p:cNvSpPr/>
          <p:nvPr/>
        </p:nvSpPr>
        <p:spPr>
          <a:xfrm>
            <a:off x="8540496" y="2880360"/>
            <a:ext cx="777240" cy="777240"/>
          </a:xfrm>
          <a:prstGeom prst="ellipse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351" y="3090215"/>
            <a:ext cx="357530" cy="35753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06456" y="26974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000" b="1" dirty="0">
                <a:solidFill>
                  <a:srgbClr val="D9F0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000" dirty="0"/>
          </a:p>
        </p:txBody>
      </p:sp>
      <p:sp>
        <p:nvSpPr>
          <p:cNvPr id="26" name="Text 21"/>
          <p:cNvSpPr/>
          <p:nvPr/>
        </p:nvSpPr>
        <p:spPr>
          <a:xfrm>
            <a:off x="8540496" y="38862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Agent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540496" y="4572000"/>
            <a:ext cx="2834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winning criteria to plain language — why this package won and why the alternatives did not.</a:t>
            </a:r>
            <a:endParaRPr lang="en-US" sz="1230" dirty="0"/>
          </a:p>
        </p:txBody>
      </p:sp>
      <p:sp>
        <p:nvSpPr>
          <p:cNvPr id="28" name="Text 23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DESIGN —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Three-layer, API-driven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868680" y="212140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751" y="2274479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756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Presentation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00200" y="247802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separated components: the User portal and the Admin dashboard.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33756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Shape 7"/>
          <p:cNvSpPr/>
          <p:nvPr/>
        </p:nvSpPr>
        <p:spPr>
          <a:xfrm>
            <a:off x="868680" y="358444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751" y="3737519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5387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Application Backend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394106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plus the three intelligent agents (the multi-agent system).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4892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5" name="Shape 11"/>
          <p:cNvSpPr/>
          <p:nvPr/>
        </p:nvSpPr>
        <p:spPr>
          <a:xfrm>
            <a:off x="868680" y="5047488"/>
            <a:ext cx="566928" cy="566928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751" y="5200559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5001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External APIs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00200" y="540410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pricing &amp; coverage from insurers (Tawuniya, Takaful Al-Rajhi, …).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06440" y="1828800"/>
            <a:ext cx="57607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pic>
        <p:nvPicPr>
          <p:cNvPr id="20" name="Image 3" descr="assets/architect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022845"/>
            <a:ext cx="5440680" cy="40467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06440" y="59436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 — Three-layer platform architecture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DESIGN — RECOMMENDATION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Agent 2 — scoring &amp; ranking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0" cy="461772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pic>
        <p:nvPicPr>
          <p:cNvPr id="5" name="Image 0" descr="assets/fig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050" y="1828800"/>
            <a:ext cx="21105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989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3.6 — Agent 2 internal steps (recommendation logic)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800600" y="1691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eligible package is scored on eight criteria, then ranked — premium and coverage carry the largest weights.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00600" y="2377440"/>
            <a:ext cx="6766560" cy="502920"/>
          </a:xfrm>
          <a:prstGeom prst="roundRect">
            <a:avLst>
              <a:gd name="adj" fmla="val 14545"/>
            </a:avLst>
          </a:prstGeom>
          <a:solidFill>
            <a:srgbClr val="0E1B2E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9" name="Text 6"/>
          <p:cNvSpPr/>
          <p:nvPr/>
        </p:nvSpPr>
        <p:spPr>
          <a:xfrm>
            <a:off x="5074920" y="2377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score 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Σ ( wᵢ × xᵢ )</a:t>
            </a:r>
            <a:r>
              <a:rPr lang="en-US" sz="1200" i="1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where  Σ wᵢ =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00600" y="3063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D9F0E4"/>
          </a:solidFill>
          <a:ln w="19050">
            <a:solidFill>
              <a:srgbClr val="15A05A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1" name="Shape 8"/>
          <p:cNvSpPr/>
          <p:nvPr/>
        </p:nvSpPr>
        <p:spPr>
          <a:xfrm>
            <a:off x="5029200" y="3246120"/>
            <a:ext cx="502920" cy="50292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4988" y="3381908"/>
            <a:ext cx="231343" cy="231343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766560" y="3200400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14" name="Text 10"/>
          <p:cNvSpPr/>
          <p:nvPr/>
        </p:nvSpPr>
        <p:spPr>
          <a:xfrm>
            <a:off x="6766560" y="32004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4983480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Premium (price)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83480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0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 — a lower premium raises the score, weighed against coverage.</a:t>
            </a:r>
            <a:endParaRPr lang="en-US" sz="1030" dirty="0"/>
          </a:p>
        </p:txBody>
      </p:sp>
      <p:sp>
        <p:nvSpPr>
          <p:cNvPr id="17" name="Shape 13"/>
          <p:cNvSpPr/>
          <p:nvPr/>
        </p:nvSpPr>
        <p:spPr>
          <a:xfrm>
            <a:off x="8229600" y="30632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D9F0E4"/>
          </a:solidFill>
          <a:ln w="19050">
            <a:solidFill>
              <a:srgbClr val="15A05A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8" name="Shape 14"/>
          <p:cNvSpPr/>
          <p:nvPr/>
        </p:nvSpPr>
        <p:spPr>
          <a:xfrm>
            <a:off x="8458200" y="3246120"/>
            <a:ext cx="502920" cy="50292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3988" y="3381908"/>
            <a:ext cx="231343" cy="231343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0195560" y="3200400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21" name="Text 16"/>
          <p:cNvSpPr/>
          <p:nvPr/>
        </p:nvSpPr>
        <p:spPr>
          <a:xfrm>
            <a:off x="10195560" y="3200400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WEIGHT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8412480" y="36576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Coverage type &amp; scope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412480" y="3950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0C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or TPL, plus the range of risks: collision, theft, fire, natural events.</a:t>
            </a:r>
            <a:endParaRPr lang="en-US" sz="1030" dirty="0"/>
          </a:p>
        </p:txBody>
      </p:sp>
      <p:sp>
        <p:nvSpPr>
          <p:cNvPr id="24" name="Shape 19"/>
          <p:cNvSpPr/>
          <p:nvPr/>
        </p:nvSpPr>
        <p:spPr>
          <a:xfrm>
            <a:off x="4800600" y="466344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5" name="Shape 20"/>
          <p:cNvSpPr/>
          <p:nvPr/>
        </p:nvSpPr>
        <p:spPr>
          <a:xfrm>
            <a:off x="4800600" y="4663440"/>
            <a:ext cx="73152" cy="658368"/>
          </a:xfrm>
          <a:prstGeom prst="rect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26" name="Text 21"/>
          <p:cNvSpPr/>
          <p:nvPr/>
        </p:nvSpPr>
        <p:spPr>
          <a:xfrm>
            <a:off x="5001768" y="46634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Coverage-to-price value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086600" y="466344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8" name="Shape 23"/>
          <p:cNvSpPr/>
          <p:nvPr/>
        </p:nvSpPr>
        <p:spPr>
          <a:xfrm>
            <a:off x="7086600" y="4663440"/>
            <a:ext cx="73152" cy="658368"/>
          </a:xfrm>
          <a:prstGeom prst="rect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29" name="Text 24"/>
          <p:cNvSpPr/>
          <p:nvPr/>
        </p:nvSpPr>
        <p:spPr>
          <a:xfrm>
            <a:off x="7287768" y="46634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Deductible (per claim)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9372600" y="466344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1" name="Shape 26"/>
          <p:cNvSpPr/>
          <p:nvPr/>
        </p:nvSpPr>
        <p:spPr>
          <a:xfrm>
            <a:off x="9372600" y="4663440"/>
            <a:ext cx="73152" cy="658368"/>
          </a:xfrm>
          <a:prstGeom prst="rect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2" name="Text 27"/>
          <p:cNvSpPr/>
          <p:nvPr/>
        </p:nvSpPr>
        <p:spPr>
          <a:xfrm>
            <a:off x="9573768" y="46634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Add-ons &amp; benefits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4800600" y="544068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4" name="Shape 29"/>
          <p:cNvSpPr/>
          <p:nvPr/>
        </p:nvSpPr>
        <p:spPr>
          <a:xfrm>
            <a:off x="4800600" y="5440680"/>
            <a:ext cx="73152" cy="658368"/>
          </a:xfrm>
          <a:prstGeom prst="rect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5" name="Text 30"/>
          <p:cNvSpPr/>
          <p:nvPr/>
        </p:nvSpPr>
        <p:spPr>
          <a:xfrm>
            <a:off x="5001768" y="54406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Fit to driver / vehicle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7086600" y="544068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7" name="Shape 32"/>
          <p:cNvSpPr/>
          <p:nvPr/>
        </p:nvSpPr>
        <p:spPr>
          <a:xfrm>
            <a:off x="7086600" y="5440680"/>
            <a:ext cx="73152" cy="658368"/>
          </a:xfrm>
          <a:prstGeom prst="rect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8" name="Text 33"/>
          <p:cNvSpPr/>
          <p:nvPr/>
        </p:nvSpPr>
        <p:spPr>
          <a:xfrm>
            <a:off x="7287768" y="54406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Provider reliability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9372600" y="5440680"/>
            <a:ext cx="21488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40" name="Shape 35"/>
          <p:cNvSpPr/>
          <p:nvPr/>
        </p:nvSpPr>
        <p:spPr>
          <a:xfrm>
            <a:off x="9372600" y="5440680"/>
            <a:ext cx="73152" cy="658368"/>
          </a:xfrm>
          <a:prstGeom prst="rect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41" name="Text 36"/>
          <p:cNvSpPr/>
          <p:nvPr/>
        </p:nvSpPr>
        <p:spPr>
          <a:xfrm>
            <a:off x="9573768" y="54406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Availability &amp; freshness</a:t>
            </a:r>
            <a:endParaRPr lang="en-US" sz="1150" dirty="0"/>
          </a:p>
        </p:txBody>
      </p:sp>
      <p:sp>
        <p:nvSpPr>
          <p:cNvPr id="42" name="Text 37"/>
          <p:cNvSpPr/>
          <p:nvPr/>
        </p:nvSpPr>
        <p:spPr>
          <a:xfrm>
            <a:off x="4800600" y="619963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4–8 above implement this weighted scoring: normalise → weight → sum → rank → select.</a:t>
            </a:r>
            <a:endParaRPr lang="en-US" sz="1050" dirty="0"/>
          </a:p>
        </p:txBody>
      </p:sp>
      <p:sp>
        <p:nvSpPr>
          <p:cNvPr id="43" name="Text 38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DESIGN — USER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25944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pic>
        <p:nvPicPr>
          <p:cNvPr id="5" name="Image 0" descr="assets/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65960"/>
            <a:ext cx="5151624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080760"/>
            <a:ext cx="5425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3.14 — Thiqa landing page (User Component)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9552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call-to-action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955280" y="23774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states the value in a single line and guides the customer straight into the smart comparison — no technical detail.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955280" y="3566160"/>
            <a:ext cx="457200" cy="45720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8724" y="368960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95360" y="3566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&amp; simple recommendation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55280" y="4279392"/>
            <a:ext cx="457200" cy="45720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24" y="440283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95360" y="427939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Neutral, unbiased analysis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955280" y="4992624"/>
            <a:ext cx="457200" cy="45720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8724" y="5116068"/>
            <a:ext cx="210312" cy="2103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95360" y="499262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connection to insurers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DESIGN — USER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 &amp; driver data-entry page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short form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collects exactly the fields insurers need to price a policy — kept to one form so the journey stays fast.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ID / Iqama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serial (chassis) no.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year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of use &amp; mileage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type — TPL / Comprehensive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priority (e.g. lowest suitable price)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1828800"/>
            <a:ext cx="582822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pic>
        <p:nvPicPr>
          <p:cNvPr id="8" name="Image 0" descr="assets/datae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65960"/>
            <a:ext cx="5553900" cy="3886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17720" y="6080760"/>
            <a:ext cx="58282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3.15 — Data-entry page (User Component)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DESIGN — USER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&amp; explanation page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32064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pic>
        <p:nvPicPr>
          <p:cNvPr id="5" name="Image 0" descr="assets/recommen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0240"/>
            <a:ext cx="4257744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309360"/>
            <a:ext cx="4532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3.16 — Recommendation &amp; explanation page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035040" y="1737360"/>
            <a:ext cx="5532120" cy="1417320"/>
          </a:xfrm>
          <a:prstGeom prst="roundRect">
            <a:avLst>
              <a:gd name="adj" fmla="val 6452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" name="Text 5"/>
          <p:cNvSpPr/>
          <p:nvPr/>
        </p:nvSpPr>
        <p:spPr>
          <a:xfrm>
            <a:off x="6355080" y="1874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5508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Tawuniya — TPL   </a:t>
            </a:r>
            <a:r>
              <a:rPr lang="en-US" sz="1800" b="1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483/yr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355080" y="2651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the best coverage-to-price balance — not the cheapest, but the most suitable for this customer.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03504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alternatives in the same session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035040" y="3794760"/>
            <a:ext cx="5532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0"/>
          <p:cNvSpPr/>
          <p:nvPr/>
        </p:nvSpPr>
        <p:spPr>
          <a:xfrm>
            <a:off x="6263640" y="37947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Takaful Al-Rajhi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869680" y="37947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507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195560" y="37947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5040" y="4480560"/>
            <a:ext cx="5532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7" name="Text 14"/>
          <p:cNvSpPr/>
          <p:nvPr/>
        </p:nvSpPr>
        <p:spPr>
          <a:xfrm>
            <a:off x="6263640" y="44805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Medgulf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869680" y="44805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469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195560" y="44805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35040" y="5166360"/>
            <a:ext cx="55321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21" name="Text 18"/>
          <p:cNvSpPr/>
          <p:nvPr/>
        </p:nvSpPr>
        <p:spPr>
          <a:xfrm>
            <a:off x="6263640" y="5166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869680" y="51663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428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6867144"/>
            <a:ext cx="1746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\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REQUIREMENT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must do — and how well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" name="Shape 3"/>
          <p:cNvSpPr/>
          <p:nvPr/>
        </p:nvSpPr>
        <p:spPr>
          <a:xfrm>
            <a:off x="960120" y="2057400"/>
            <a:ext cx="594360" cy="59436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597" y="2217877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756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Authentication; separate User &amp; Admin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&amp; driver data entry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offer retrieval from insurer APIs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&amp; best-package recommendation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result display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3341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&amp; logging of results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4434840"/>
          </a:xfrm>
          <a:prstGeom prst="roundRect">
            <a:avLst>
              <a:gd name="adj" fmla="val 2062"/>
            </a:avLst>
          </a:prstGeom>
          <a:solidFill>
            <a:srgbClr val="0E1B2E"/>
          </a:solidFill>
          <a:ln/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Shape 7"/>
          <p:cNvSpPr/>
          <p:nvPr/>
        </p:nvSpPr>
        <p:spPr>
          <a:xfrm>
            <a:off x="6492240" y="2057400"/>
            <a:ext cx="594360" cy="594360"/>
          </a:xfrm>
          <a:prstGeom prst="ellipse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717" y="2217877"/>
            <a:ext cx="273406" cy="273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756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788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 —  </a:t>
            </a:r>
            <a:r>
              <a:rPr lang="en-US" sz="128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within a few seconds</a:t>
            </a:r>
            <a:endParaRPr lang="en-US" sz="1280" dirty="0"/>
          </a:p>
        </p:txBody>
      </p:sp>
      <p:sp>
        <p:nvSpPr>
          <p:cNvPr id="14" name="Text 10"/>
          <p:cNvSpPr/>
          <p:nvPr/>
        </p:nvSpPr>
        <p:spPr>
          <a:xfrm>
            <a:off x="6537960" y="3264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 —  </a:t>
            </a:r>
            <a:r>
              <a:rPr lang="en-US" sz="128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if one insurer API is down</a:t>
            </a:r>
            <a:endParaRPr lang="en-US" sz="1280" dirty="0"/>
          </a:p>
        </p:txBody>
      </p:sp>
      <p:sp>
        <p:nvSpPr>
          <p:cNvPr id="15" name="Text 11"/>
          <p:cNvSpPr/>
          <p:nvPr/>
        </p:nvSpPr>
        <p:spPr>
          <a:xfrm>
            <a:off x="6537960" y="3739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 —  </a:t>
            </a:r>
            <a:r>
              <a:rPr lang="en-US" sz="128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users &amp; insurers, no redesign</a:t>
            </a:r>
            <a:endParaRPr lang="en-US" sz="1280" dirty="0"/>
          </a:p>
        </p:txBody>
      </p:sp>
      <p:sp>
        <p:nvSpPr>
          <p:cNvPr id="16" name="Text 12"/>
          <p:cNvSpPr/>
          <p:nvPr/>
        </p:nvSpPr>
        <p:spPr>
          <a:xfrm>
            <a:off x="6537960" y="42153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 —  </a:t>
            </a:r>
            <a:r>
              <a:rPr lang="en-US" sz="128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for non-technical users</a:t>
            </a:r>
            <a:endParaRPr lang="en-US" sz="1280" dirty="0"/>
          </a:p>
        </p:txBody>
      </p:sp>
      <p:sp>
        <p:nvSpPr>
          <p:cNvPr id="17" name="Text 13"/>
          <p:cNvSpPr/>
          <p:nvPr/>
        </p:nvSpPr>
        <p:spPr>
          <a:xfrm>
            <a:off x="6537960" y="46908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—  </a:t>
            </a:r>
            <a:r>
              <a:rPr lang="en-US" sz="128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user data &amp; API keys</a:t>
            </a:r>
            <a:endParaRPr lang="en-US" sz="1280" dirty="0"/>
          </a:p>
        </p:txBody>
      </p:sp>
      <p:sp>
        <p:nvSpPr>
          <p:cNvPr id="18" name="Text 14"/>
          <p:cNvSpPr/>
          <p:nvPr/>
        </p:nvSpPr>
        <p:spPr>
          <a:xfrm>
            <a:off x="6537960" y="5166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 —  </a:t>
            </a:r>
            <a:r>
              <a:rPr lang="en-US" sz="128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live retrieved data</a:t>
            </a:r>
            <a:endParaRPr lang="en-US" sz="1280" dirty="0"/>
          </a:p>
        </p:txBody>
      </p:sp>
      <p:sp>
        <p:nvSpPr>
          <p:cNvPr id="19" name="Text 15"/>
          <p:cNvSpPr/>
          <p:nvPr/>
        </p:nvSpPr>
        <p:spPr>
          <a:xfrm>
            <a:off x="6537960" y="56418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 —  </a:t>
            </a:r>
            <a:r>
              <a:rPr lang="en-US" sz="1280" dirty="0">
                <a:solidFill>
                  <a:srgbClr val="C7D5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API changes</a:t>
            </a:r>
            <a:endParaRPr lang="en-US" sz="1280" dirty="0"/>
          </a:p>
        </p:txBody>
      </p:sp>
      <p:sp>
        <p:nvSpPr>
          <p:cNvPr id="20" name="Text 16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SYSTEM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diagram — recommendation request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63815" y="1783080"/>
            <a:ext cx="7264066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DCE6E1"/>
            </a:solidFill>
            <a:prstDash val="solid"/>
          </a:ln>
          <a:effectLst>
            <a:outerShdw blurRad="114300" dist="38100" dir="5400000" algn="bl" rotWithShape="0">
              <a:srgbClr val="9DB3A8">
                <a:alpha val="25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pic>
        <p:nvPicPr>
          <p:cNvPr id="5" name="Image 0" descr="assets/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975" y="1920240"/>
            <a:ext cx="6989746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3.10 — Time-ordered messages: login → retrieve → score → explain → display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27729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E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THIQA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FUTURE WORK &amp;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THIQA goes next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5A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340864"/>
            <a:ext cx="548640" cy="54864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3" y="2488997"/>
            <a:ext cx="252374" cy="25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&amp; UBI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417320" y="261518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real-time driving data for usage-based pricing.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419856"/>
            <a:ext cx="548640" cy="54864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3" y="3567989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364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insurer integrations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17320" y="36941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production APIs of Saudi insurers.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85800" y="4498848"/>
            <a:ext cx="548640" cy="548640"/>
          </a:xfrm>
          <a:prstGeom prst="ellipse">
            <a:avLst/>
          </a:prstGeom>
          <a:solidFill>
            <a:srgbClr val="15A05A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3" y="4646981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44439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ranking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417320" y="4773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A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criterion weights from user feedback.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583680" y="1828800"/>
            <a:ext cx="4983480" cy="4160520"/>
          </a:xfrm>
          <a:prstGeom prst="roundRect">
            <a:avLst>
              <a:gd name="adj" fmla="val 2198"/>
            </a:avLst>
          </a:prstGeom>
          <a:solidFill>
            <a:srgbClr val="16263D"/>
          </a:solidFill>
          <a:ln w="19050">
            <a:solidFill>
              <a:srgbClr val="0C6B45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Shape 14"/>
          <p:cNvSpPr/>
          <p:nvPr/>
        </p:nvSpPr>
        <p:spPr>
          <a:xfrm>
            <a:off x="6858000" y="2103120"/>
            <a:ext cx="640080" cy="640080"/>
          </a:xfrm>
          <a:prstGeom prst="ellipse">
            <a:avLst/>
          </a:prstGeom>
          <a:solidFill>
            <a:srgbClr val="E0A53C"/>
          </a:solidFill>
          <a:ln/>
        </p:spPr>
        <p:txBody>
          <a:bodyPr/>
          <a:lstStyle/>
          <a:p>
            <a:endParaRPr lang="ar-SA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0822" y="2275942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5240" y="21396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5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949440" y="29718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THIQA brings live offer retrieval, intelligent scoring and explainable decisions together in one platform.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49440" y="425196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 the customer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Organised, three-layer structure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350" dirty="0">
                <a:solidFill>
                  <a:srgbClr val="D5E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dynamic &amp; explainable recommendations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A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جامعة القصيم  •  1447 (2026)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1327</Words>
  <Application>Microsoft Office PowerPoint</Application>
  <PresentationFormat>Widescreen</PresentationFormat>
  <Paragraphs>218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THIQA Car Insurance</dc:title>
  <dc:subject>PptxGenJS Presentation</dc:subject>
  <dc:creator>Qassim University - IT Department</dc:creator>
  <cp:lastModifiedBy>الياس خالد عبدالعزيز النقيدان</cp:lastModifiedBy>
  <cp:revision>3</cp:revision>
  <dcterms:created xsi:type="dcterms:W3CDTF">2026-06-07T10:36:42Z</dcterms:created>
  <dcterms:modified xsi:type="dcterms:W3CDTF">2026-06-07T12:00:28Z</dcterms:modified>
</cp:coreProperties>
</file>